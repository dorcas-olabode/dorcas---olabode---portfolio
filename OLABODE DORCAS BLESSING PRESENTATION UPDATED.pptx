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an independent investigation of the Deluxe Store sales dataset, built in Power 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owner wants an investigation, not just totals. I organised the work around three questions and four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defend each decision. Duplicate: exact match on every column. Repeated Order IDs are legitimate line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project analyses Deluxe Store sales to find where profit is made and lost. Headline: ₦2,297,200.86 revenue, ₦286,397.02 profit, 5,009 orders, a 12% margin. Finding 1: West and East drive the business; South is the smallest region. Finding 2 (the chart): Technology and Office Supplies earn 17% margins, but Furniture earns only 2% despite ₦742,000.00 in sales. Finding 3: as discount rates rise, profit falls, and very high discounts lose money. Close with the recommendation: cap deep discounts, reprice Furniture, grow West and East.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the client's first question: performance is not consistent. It peaks at year-end.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the second question: strong sales do not always translate into strong profit, as Furniture shows. Margin is profit divided by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Region profit ranking: West, East, South, Central, read from the regional profit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the third question. Say clearly: discounts and lower profit move together in this data. The data does not prove discounts caused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Organic is not a person. Say that the data does not explain it, so conclusions about individual reps are limited.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each recommendation tied to evidence. Suggest, do not overclaim.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457200"/>
            <a:ext cx="1097280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0F1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153160"/>
            <a:ext cx="1076960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457200"/>
            <a:ext cx="1097280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0F1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153160"/>
            <a:ext cx="1076960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743710"/>
            <a:ext cx="889000" cy="635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800" y="2010410"/>
            <a:ext cx="10883392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FFFF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DELUXE STORE: BUSINESS INTELLIGENCE AND PERFORMANCE INVESTIGATION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389001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PRESENTATION AND DEFENCE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41325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OLABODE DORCAS | TECHACCESS FOUNDATION | DEBBYLYTICS DATA ANALYTICS PROGRAMME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486537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CELEBRATION OF ACTRESS KATE HENSHAW’S BIRTHDAY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457200"/>
            <a:ext cx="1130198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5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CLIENT'S BRIEF AND MY 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600" y="1051560"/>
            <a:ext cx="3556000" cy="1148080"/>
          </a:xfrm>
          <a:prstGeom prst="roundRect">
            <a:avLst>
              <a:gd name="adj" fmla="val 6637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" y="1051560"/>
            <a:ext cx="3556000" cy="1148080"/>
          </a:xfrm>
          <a:custGeom>
            <a:avLst/>
            <a:gdLst/>
            <a:ahLst/>
            <a:cxnLst/>
            <a:rect l="l" t="t" r="r" b="b"/>
            <a:pathLst>
              <a:path w="3556000" h="114808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479800" y="0"/>
                </a:lnTo>
                <a:arcTo hR="76200" wR="76200" stAng="16200000" swAng="5400000"/>
                <a:lnTo>
                  <a:pt x="3556000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1F3FBF"/>
          </a:solidFill>
          <a:ln/>
        </p:spPr>
      </p:sp>
      <p:sp>
        <p:nvSpPr>
          <p:cNvPr id="5" name="Text 3"/>
          <p:cNvSpPr/>
          <p:nvPr/>
        </p:nvSpPr>
        <p:spPr>
          <a:xfrm>
            <a:off x="787400" y="1254760"/>
            <a:ext cx="329641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7400" y="1549400"/>
            <a:ext cx="3296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sales performance steady over time?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8000" y="1051560"/>
            <a:ext cx="3556000" cy="1148080"/>
          </a:xfrm>
          <a:prstGeom prst="roundRect">
            <a:avLst>
              <a:gd name="adj" fmla="val 6637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318000" y="1051560"/>
            <a:ext cx="3556000" cy="1148080"/>
          </a:xfrm>
          <a:custGeom>
            <a:avLst/>
            <a:gdLst/>
            <a:ahLst/>
            <a:cxnLst/>
            <a:rect l="l" t="t" r="r" b="b"/>
            <a:pathLst>
              <a:path w="3556000" h="114808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479800" y="0"/>
                </a:lnTo>
                <a:arcTo hR="76200" wR="76200" stAng="16200000" swAng="5400000"/>
                <a:lnTo>
                  <a:pt x="3556000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1F3FBF"/>
          </a:solidFill>
          <a:ln/>
        </p:spPr>
      </p:sp>
      <p:sp>
        <p:nvSpPr>
          <p:cNvPr id="9" name="Text 7"/>
          <p:cNvSpPr/>
          <p:nvPr/>
        </p:nvSpPr>
        <p:spPr>
          <a:xfrm>
            <a:off x="4495800" y="1254760"/>
            <a:ext cx="329641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5800" y="1549400"/>
            <a:ext cx="329641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products, regions and segments drive profit?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26400" y="1051560"/>
            <a:ext cx="3556000" cy="1148080"/>
          </a:xfrm>
          <a:prstGeom prst="roundRect">
            <a:avLst>
              <a:gd name="adj" fmla="val 6637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026400" y="1051560"/>
            <a:ext cx="3556000" cy="1148080"/>
          </a:xfrm>
          <a:custGeom>
            <a:avLst/>
            <a:gdLst/>
            <a:ahLst/>
            <a:cxnLst/>
            <a:rect l="l" t="t" r="r" b="b"/>
            <a:pathLst>
              <a:path w="3556000" h="114808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479800" y="0"/>
                </a:lnTo>
                <a:arcTo hR="76200" wR="76200" stAng="16200000" swAng="5400000"/>
                <a:lnTo>
                  <a:pt x="3556000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E8833A"/>
          </a:solidFill>
          <a:ln/>
        </p:spPr>
      </p:sp>
      <p:sp>
        <p:nvSpPr>
          <p:cNvPr id="13" name="Text 11"/>
          <p:cNvSpPr/>
          <p:nvPr/>
        </p:nvSpPr>
        <p:spPr>
          <a:xfrm>
            <a:off x="8204200" y="1254760"/>
            <a:ext cx="329641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04200" y="1549400"/>
            <a:ext cx="3296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support or weaken results?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9600" y="2402840"/>
            <a:ext cx="113019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investigated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2849880"/>
            <a:ext cx="2667000" cy="553720"/>
          </a:xfrm>
          <a:prstGeom prst="roundRect">
            <a:avLst>
              <a:gd name="adj" fmla="val 13761"/>
            </a:avLst>
          </a:prstGeom>
          <a:solidFill>
            <a:srgbClr val="0F1B5C"/>
          </a:solidFill>
          <a:ln/>
        </p:spPr>
        <p:txBody>
          <a:bodyPr wrap="square" lIns="94649" tIns="130082" rIns="94649" bIns="104682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Check data quality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78200" y="2849880"/>
            <a:ext cx="2667000" cy="553720"/>
          </a:xfrm>
          <a:prstGeom prst="roundRect">
            <a:avLst>
              <a:gd name="adj" fmla="val 13761"/>
            </a:avLst>
          </a:prstGeom>
          <a:solidFill>
            <a:srgbClr val="0F1B5C"/>
          </a:solidFill>
          <a:ln/>
        </p:spPr>
        <p:txBody>
          <a:bodyPr wrap="square" lIns="94649" tIns="130082" rIns="94649" bIns="104682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Prepare and model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46800" y="2849880"/>
            <a:ext cx="2667000" cy="553720"/>
          </a:xfrm>
          <a:prstGeom prst="roundRect">
            <a:avLst>
              <a:gd name="adj" fmla="val 13761"/>
            </a:avLst>
          </a:prstGeom>
          <a:solidFill>
            <a:srgbClr val="0F1B5C"/>
          </a:solidFill>
          <a:ln/>
        </p:spPr>
        <p:txBody>
          <a:bodyPr wrap="square" lIns="94649" tIns="130082" rIns="94649" bIns="104682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Power BI dashboard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15400" y="2849880"/>
            <a:ext cx="2667000" cy="553720"/>
          </a:xfrm>
          <a:prstGeom prst="roundRect">
            <a:avLst>
              <a:gd name="adj" fmla="val 13761"/>
            </a:avLst>
          </a:prstGeom>
          <a:solidFill>
            <a:srgbClr val="0F1B5C"/>
          </a:solidFill>
          <a:ln/>
        </p:spPr>
        <p:txBody>
          <a:bodyPr wrap="square" lIns="94649" tIns="130082" rIns="94649" bIns="104682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Analyse and recommend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600" y="3606800"/>
            <a:ext cx="5384800" cy="807720"/>
          </a:xfrm>
          <a:prstGeom prst="roundRect">
            <a:avLst>
              <a:gd name="adj" fmla="val 9434"/>
            </a:avLst>
          </a:prstGeom>
          <a:solidFill>
            <a:srgbClr val="0F1B5C"/>
          </a:solidFill>
          <a:ln/>
        </p:spPr>
      </p:sp>
      <p:sp>
        <p:nvSpPr>
          <p:cNvPr id="21" name="Text 19"/>
          <p:cNvSpPr/>
          <p:nvPr/>
        </p:nvSpPr>
        <p:spPr>
          <a:xfrm>
            <a:off x="787400" y="3708400"/>
            <a:ext cx="518007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7400" y="3886200"/>
            <a:ext cx="51800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needs to know what drives profit, not only how much was sold. Three questions frame the whole investigation.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46800" y="3606800"/>
            <a:ext cx="5435600" cy="807720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146800" y="3606800"/>
            <a:ext cx="5435600" cy="807720"/>
          </a:xfrm>
          <a:custGeom>
            <a:avLst/>
            <a:gdLst/>
            <a:ahLst/>
            <a:cxnLst/>
            <a:rect l="l" t="t" r="r" b="b"/>
            <a:pathLst>
              <a:path w="5435600" h="807720">
                <a:moveTo>
                  <a:pt x="76200" y="807720"/>
                </a:moveTo>
                <a:lnTo>
                  <a:pt x="76200" y="8077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731520"/>
                </a:lnTo>
                <a:arcTo hR="76200" wR="25400" stAng="10800000" swAng="-5400000"/>
                <a:close/>
              </a:path>
            </a:pathLst>
          </a:custGeom>
          <a:solidFill>
            <a:srgbClr val="E8833A"/>
          </a:solidFill>
          <a:ln/>
        </p:spPr>
      </p:sp>
      <p:sp>
        <p:nvSpPr>
          <p:cNvPr id="25" name="Text 23"/>
          <p:cNvSpPr/>
          <p:nvPr/>
        </p:nvSpPr>
        <p:spPr>
          <a:xfrm>
            <a:off x="6375400" y="3708400"/>
            <a:ext cx="518007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75400" y="3886200"/>
            <a:ext cx="51800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dashboard filters for region, category, segment and date to answer the owner's follow-up questions live.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9600" y="6238241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pages: sales overview, product profitability, regional and team performance, discount and shipping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457200"/>
            <a:ext cx="1130198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5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DATA QUALITY AND PREPARATION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600" y="1051561"/>
            <a:ext cx="5410200" cy="909320"/>
          </a:xfrm>
          <a:prstGeom prst="roundRect">
            <a:avLst>
              <a:gd name="adj" fmla="val 838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" y="1051561"/>
            <a:ext cx="5410200" cy="909320"/>
          </a:xfrm>
          <a:custGeom>
            <a:avLst/>
            <a:gdLst/>
            <a:ahLst/>
            <a:cxnLst/>
            <a:rect l="l" t="t" r="r" b="b"/>
            <a:pathLst>
              <a:path w="5410200" h="909320">
                <a:moveTo>
                  <a:pt x="76200" y="909320"/>
                </a:moveTo>
                <a:lnTo>
                  <a:pt x="76200" y="9093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833120"/>
                </a:lnTo>
                <a:arcTo hR="76200" wR="25400" stAng="10800000" swAng="-5400000"/>
                <a:close/>
              </a:path>
            </a:pathLst>
          </a:custGeom>
          <a:solidFill>
            <a:srgbClr val="0F1B5C"/>
          </a:solidFill>
          <a:ln/>
        </p:spPr>
      </p:sp>
      <p:sp>
        <p:nvSpPr>
          <p:cNvPr id="5" name="Text 3"/>
          <p:cNvSpPr/>
          <p:nvPr/>
        </p:nvSpPr>
        <p:spPr>
          <a:xfrm>
            <a:off x="838200" y="1203961"/>
            <a:ext cx="515391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 to 9,993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8200" y="1595120"/>
            <a:ext cx="51539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before and after cleaning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051561"/>
            <a:ext cx="5410200" cy="909320"/>
          </a:xfrm>
          <a:prstGeom prst="roundRect">
            <a:avLst>
              <a:gd name="adj" fmla="val 8380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172200" y="1051561"/>
            <a:ext cx="5410200" cy="909320"/>
          </a:xfrm>
          <a:custGeom>
            <a:avLst/>
            <a:gdLst/>
            <a:ahLst/>
            <a:cxnLst/>
            <a:rect l="l" t="t" r="r" b="b"/>
            <a:pathLst>
              <a:path w="5410200" h="909320">
                <a:moveTo>
                  <a:pt x="76200" y="909320"/>
                </a:moveTo>
                <a:lnTo>
                  <a:pt x="76200" y="9093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833120"/>
                </a:lnTo>
                <a:arcTo hR="76200" wR="25400" stAng="10800000" swAng="-5400000"/>
                <a:close/>
              </a:path>
            </a:pathLst>
          </a:custGeom>
          <a:solidFill>
            <a:srgbClr val="E883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203961"/>
            <a:ext cx="515391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fact + 6 dimensions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0" y="1595120"/>
            <a:ext cx="51539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built in Excel, loaded with Power Query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600" y="2164080"/>
            <a:ext cx="10972800" cy="1859280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" y="2164080"/>
            <a:ext cx="10972800" cy="1859280"/>
          </a:xfrm>
          <a:custGeom>
            <a:avLst/>
            <a:gdLst/>
            <a:ahLst/>
            <a:cxnLst/>
            <a:rect l="l" t="t" r="r" b="b"/>
            <a:pathLst>
              <a:path w="10972800" h="1859280">
                <a:moveTo>
                  <a:pt x="76200" y="1859280"/>
                </a:moveTo>
                <a:lnTo>
                  <a:pt x="76200" y="185928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10896600" y="0"/>
                </a:lnTo>
                <a:arcTo hR="76200" wR="76200" stAng="16200000" swAng="5400000"/>
                <a:lnTo>
                  <a:pt x="10972800" y="76200"/>
                </a:lnTo>
                <a:arcTo hR="66040" wR="76200" stAng="0" swAng="-5400000"/>
                <a:lnTo>
                  <a:pt x="76200" y="10160"/>
                </a:lnTo>
                <a:arcTo hR="66040" wR="66040" stAng="16200000" swAng="-5400000"/>
                <a:lnTo>
                  <a:pt x="10160" y="1783080"/>
                </a:lnTo>
                <a:arcTo hR="76200" wR="6604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760" y="2174240"/>
          <a:ext cx="10962640" cy="1849120"/>
        </p:xfrm>
        <a:graphic>
          <a:graphicData uri="http://schemas.openxmlformats.org/drawingml/2006/table">
            <a:tbl>
              <a:tblPr/>
              <a:tblGrid>
                <a:gridCol w="3654213"/>
                <a:gridCol w="3654213"/>
                <a:gridCol w="3654213"/>
              </a:tblGrid>
              <a:tr h="4622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found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019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19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1019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19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1019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19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5C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exact duplicate row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Avoids double-counting sales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Order IDs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order holds several product lines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Postal 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as text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label, not a number to add 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09600" y="4226561"/>
            <a:ext cx="5384800" cy="807720"/>
          </a:xfrm>
          <a:prstGeom prst="roundRect">
            <a:avLst>
              <a:gd name="adj" fmla="val 9434"/>
            </a:avLst>
          </a:prstGeom>
          <a:solidFill>
            <a:srgbClr val="0F1B5C"/>
          </a:solidFill>
          <a:ln/>
        </p:spPr>
      </p:sp>
      <p:sp>
        <p:nvSpPr>
          <p:cNvPr id="15" name="Text 12"/>
          <p:cNvSpPr/>
          <p:nvPr/>
        </p:nvSpPr>
        <p:spPr>
          <a:xfrm>
            <a:off x="787400" y="4328161"/>
            <a:ext cx="518007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7400" y="4505961"/>
            <a:ext cx="51800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removed only one duplicate row, so the results rest on almost all of the original records.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46800" y="4226561"/>
            <a:ext cx="5435600" cy="807720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6146800" y="4226561"/>
            <a:ext cx="5435600" cy="807720"/>
          </a:xfrm>
          <a:custGeom>
            <a:avLst/>
            <a:gdLst/>
            <a:ahLst/>
            <a:cxnLst/>
            <a:rect l="l" t="t" r="r" b="b"/>
            <a:pathLst>
              <a:path w="5435600" h="807720">
                <a:moveTo>
                  <a:pt x="76200" y="807720"/>
                </a:moveTo>
                <a:lnTo>
                  <a:pt x="76200" y="8077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731520"/>
                </a:lnTo>
                <a:arcTo hR="76200" wR="25400" stAng="10800000" swAng="-5400000"/>
                <a:close/>
              </a:path>
            </a:pathLst>
          </a:custGeom>
          <a:solidFill>
            <a:srgbClr val="E8833A"/>
          </a:solidFill>
          <a:ln/>
        </p:spPr>
      </p:sp>
      <p:sp>
        <p:nvSpPr>
          <p:cNvPr id="19" name="Text 16"/>
          <p:cNvSpPr/>
          <p:nvPr/>
        </p:nvSpPr>
        <p:spPr>
          <a:xfrm>
            <a:off x="6375400" y="4328161"/>
            <a:ext cx="518007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75400" y="4505961"/>
            <a:ext cx="51800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each data check and decision whenever the data is refreshed, so future results stay comparable.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457200"/>
            <a:ext cx="1130198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5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DELUXE STORE: SALES PERFORMANCE INSIGHTS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886461"/>
            <a:ext cx="1130198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capstone | Olabode Dorcas | TechAccess Foundation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09600" y="1320800"/>
            <a:ext cx="2628900" cy="864870"/>
          </a:xfrm>
          <a:prstGeom prst="roundRect">
            <a:avLst>
              <a:gd name="adj" fmla="val 881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320800"/>
            <a:ext cx="2628900" cy="864870"/>
          </a:xfrm>
          <a:custGeom>
            <a:avLst/>
            <a:gdLst/>
            <a:ahLst/>
            <a:cxnLst/>
            <a:rect l="l" t="t" r="r" b="b"/>
            <a:pathLst>
              <a:path w="2628900" h="864870">
                <a:moveTo>
                  <a:pt x="76200" y="864870"/>
                </a:moveTo>
                <a:lnTo>
                  <a:pt x="76200" y="86487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788670"/>
                </a:lnTo>
                <a:arcTo hR="76200" wR="25400" stAng="10800000" swAng="-5400000"/>
                <a:close/>
              </a:path>
            </a:pathLst>
          </a:custGeom>
          <a:solidFill>
            <a:srgbClr val="0F1B5C"/>
          </a:solidFill>
          <a:ln/>
        </p:spPr>
      </p:sp>
      <p:sp>
        <p:nvSpPr>
          <p:cNvPr id="6" name="Text 4"/>
          <p:cNvSpPr/>
          <p:nvPr/>
        </p:nvSpPr>
        <p:spPr>
          <a:xfrm>
            <a:off x="838200" y="1473200"/>
            <a:ext cx="2289175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₦2,297,200.86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38200" y="1819911"/>
            <a:ext cx="22891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0900" y="1320800"/>
            <a:ext cx="2628900" cy="864870"/>
          </a:xfrm>
          <a:prstGeom prst="roundRect">
            <a:avLst>
              <a:gd name="adj" fmla="val 8811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390900" y="1320800"/>
            <a:ext cx="2628900" cy="864870"/>
          </a:xfrm>
          <a:custGeom>
            <a:avLst/>
            <a:gdLst/>
            <a:ahLst/>
            <a:cxnLst/>
            <a:rect l="l" t="t" r="r" b="b"/>
            <a:pathLst>
              <a:path w="2628900" h="864870">
                <a:moveTo>
                  <a:pt x="76200" y="864870"/>
                </a:moveTo>
                <a:lnTo>
                  <a:pt x="76200" y="86487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788670"/>
                </a:lnTo>
                <a:arcTo hR="76200" wR="25400" stAng="10800000" swAng="-5400000"/>
                <a:close/>
              </a:path>
            </a:pathLst>
          </a:custGeom>
          <a:solidFill>
            <a:srgbClr val="0F1B5C"/>
          </a:solidFill>
          <a:ln/>
        </p:spPr>
      </p:sp>
      <p:sp>
        <p:nvSpPr>
          <p:cNvPr id="10" name="Text 8"/>
          <p:cNvSpPr/>
          <p:nvPr/>
        </p:nvSpPr>
        <p:spPr>
          <a:xfrm>
            <a:off x="3619500" y="1473200"/>
            <a:ext cx="2289175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₦286,397.02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619500" y="1819911"/>
            <a:ext cx="22891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320800"/>
            <a:ext cx="2628900" cy="864870"/>
          </a:xfrm>
          <a:prstGeom prst="roundRect">
            <a:avLst>
              <a:gd name="adj" fmla="val 8811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1320800"/>
            <a:ext cx="2628900" cy="864870"/>
          </a:xfrm>
          <a:custGeom>
            <a:avLst/>
            <a:gdLst/>
            <a:ahLst/>
            <a:cxnLst/>
            <a:rect l="l" t="t" r="r" b="b"/>
            <a:pathLst>
              <a:path w="2628900" h="864870">
                <a:moveTo>
                  <a:pt x="76200" y="864870"/>
                </a:moveTo>
                <a:lnTo>
                  <a:pt x="76200" y="86487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788670"/>
                </a:lnTo>
                <a:arcTo hR="76200" wR="25400" stAng="10800000" swAng="-5400000"/>
                <a:close/>
              </a:path>
            </a:pathLst>
          </a:custGeom>
          <a:solidFill>
            <a:srgbClr val="0F1B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473200"/>
            <a:ext cx="2289175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5,009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400800" y="1819911"/>
            <a:ext cx="22891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53500" y="1320800"/>
            <a:ext cx="2628900" cy="864870"/>
          </a:xfrm>
          <a:prstGeom prst="roundRect">
            <a:avLst>
              <a:gd name="adj" fmla="val 8811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953500" y="1320800"/>
            <a:ext cx="2628900" cy="864870"/>
          </a:xfrm>
          <a:custGeom>
            <a:avLst/>
            <a:gdLst/>
            <a:ahLst/>
            <a:cxnLst/>
            <a:rect l="l" t="t" r="r" b="b"/>
            <a:pathLst>
              <a:path w="2628900" h="864870">
                <a:moveTo>
                  <a:pt x="76200" y="864870"/>
                </a:moveTo>
                <a:lnTo>
                  <a:pt x="76200" y="86487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788670"/>
                </a:lnTo>
                <a:arcTo hR="76200" wR="25400" stAng="10800000" swAng="-5400000"/>
                <a:close/>
              </a:path>
            </a:pathLst>
          </a:custGeom>
          <a:solidFill>
            <a:srgbClr val="E8833A"/>
          </a:solidFill>
          <a:ln/>
        </p:spPr>
      </p:sp>
      <p:sp>
        <p:nvSpPr>
          <p:cNvPr id="18" name="Text 16"/>
          <p:cNvSpPr/>
          <p:nvPr/>
        </p:nvSpPr>
        <p:spPr>
          <a:xfrm>
            <a:off x="9182100" y="1473200"/>
            <a:ext cx="2289175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9182100" y="1819911"/>
            <a:ext cx="22891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9600" y="3421380"/>
            <a:ext cx="5943600" cy="1023620"/>
          </a:xfrm>
          <a:prstGeom prst="roundRect">
            <a:avLst>
              <a:gd name="adj" fmla="val 7444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87400" y="3561080"/>
            <a:ext cx="57556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is the weak spot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87400" y="3843020"/>
            <a:ext cx="5755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₦742,000.00 in sales but only a 2% margin, against 17% for Technology and Office Supplies.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56400" y="2388870"/>
            <a:ext cx="4826000" cy="3088640"/>
          </a:xfrm>
          <a:prstGeom prst="roundRect">
            <a:avLst>
              <a:gd name="adj" fmla="val 2467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959600" y="2566670"/>
            <a:ext cx="455218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by product category</a:t>
            </a:r>
            <a:endParaRPr lang="en-US" sz="1600" dirty="0"/>
          </a:p>
        </p:txBody>
      </p:sp>
      <p:pic>
        <p:nvPicPr>
          <p:cNvPr id="25" name="Image 0" descr="Bar chart of profit margin by category: Technology 17%, Office Supplies 17%, Furniture 2%, against a 12% overall margi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59600" y="2886711"/>
            <a:ext cx="4419600" cy="24130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09600" y="5680711"/>
            <a:ext cx="5384800" cy="807720"/>
          </a:xfrm>
          <a:prstGeom prst="roundRect">
            <a:avLst>
              <a:gd name="adj" fmla="val 9434"/>
            </a:avLst>
          </a:prstGeom>
          <a:solidFill>
            <a:srgbClr val="0F1B5C"/>
          </a:solidFill>
          <a:ln/>
        </p:spPr>
      </p:sp>
      <p:sp>
        <p:nvSpPr>
          <p:cNvPr id="27" name="Text 24"/>
          <p:cNvSpPr/>
          <p:nvPr/>
        </p:nvSpPr>
        <p:spPr>
          <a:xfrm>
            <a:off x="787400" y="5782311"/>
            <a:ext cx="518007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87400" y="5960111"/>
            <a:ext cx="51800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12% margin means the store keeps about ₦12 profit for every ₦100 of sales, and Furniture sits far below that.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146800" y="5680711"/>
            <a:ext cx="5435600" cy="807720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6146800" y="5680711"/>
            <a:ext cx="5435600" cy="807720"/>
          </a:xfrm>
          <a:custGeom>
            <a:avLst/>
            <a:gdLst/>
            <a:ahLst/>
            <a:cxnLst/>
            <a:rect l="l" t="t" r="r" b="b"/>
            <a:pathLst>
              <a:path w="5435600" h="807720">
                <a:moveTo>
                  <a:pt x="76200" y="807720"/>
                </a:moveTo>
                <a:lnTo>
                  <a:pt x="76200" y="8077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731520"/>
                </a:lnTo>
                <a:arcTo hR="76200" wR="25400" stAng="10800000" swAng="-5400000"/>
                <a:close/>
              </a:path>
            </a:pathLst>
          </a:custGeom>
          <a:solidFill>
            <a:srgbClr val="E8833A"/>
          </a:solidFill>
          <a:ln/>
        </p:spPr>
      </p:sp>
      <p:sp>
        <p:nvSpPr>
          <p:cNvPr id="31" name="Text 28"/>
          <p:cNvSpPr/>
          <p:nvPr/>
        </p:nvSpPr>
        <p:spPr>
          <a:xfrm>
            <a:off x="6375400" y="5782311"/>
            <a:ext cx="518007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375400" y="5960111"/>
            <a:ext cx="51800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margin, not just revenue, as the main monthly measure of performance.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457200"/>
            <a:ext cx="1130198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5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SALES OVER TIME: A YEAR-END PATTERN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600" y="1051561"/>
            <a:ext cx="4826000" cy="3158490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12800" y="1229361"/>
            <a:ext cx="455218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revenue months, by calendar month</a:t>
            </a:r>
            <a:endParaRPr lang="en-US" sz="1600" dirty="0"/>
          </a:p>
        </p:txBody>
      </p:sp>
      <p:pic>
        <p:nvPicPr>
          <p:cNvPr id="5" name="Image 0" descr="Bar chart: of the 10 highest-revenue months, 4 are November, 3 December, 2 September and 1 Octob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549400"/>
            <a:ext cx="4419600" cy="24828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38800" y="1051561"/>
            <a:ext cx="5943600" cy="1046480"/>
          </a:xfrm>
          <a:prstGeom prst="roundRect">
            <a:avLst>
              <a:gd name="adj" fmla="val 7282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5816600" y="1203961"/>
            <a:ext cx="57556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816600" y="1447800"/>
            <a:ext cx="575564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highest-revenue months fall between September and December. November 2017 is the peak.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38800" y="2225039"/>
            <a:ext cx="5943600" cy="797560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5816600" y="2377439"/>
            <a:ext cx="57556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16600" y="2621282"/>
            <a:ext cx="575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is volatile, with sharp spikes rather than a steady climb.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9600" y="4413250"/>
            <a:ext cx="5384800" cy="807720"/>
          </a:xfrm>
          <a:prstGeom prst="roundRect">
            <a:avLst>
              <a:gd name="adj" fmla="val 9434"/>
            </a:avLst>
          </a:prstGeom>
          <a:solidFill>
            <a:srgbClr val="0F1B5C"/>
          </a:solidFill>
          <a:ln/>
        </p:spPr>
      </p:sp>
      <p:sp>
        <p:nvSpPr>
          <p:cNvPr id="13" name="Text 10"/>
          <p:cNvSpPr/>
          <p:nvPr/>
        </p:nvSpPr>
        <p:spPr>
          <a:xfrm>
            <a:off x="787400" y="4514850"/>
            <a:ext cx="518007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87400" y="4692650"/>
            <a:ext cx="51800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uneven. All 10 strongest months fall between September and December.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46800" y="4413250"/>
            <a:ext cx="5435600" cy="807720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6146800" y="4413250"/>
            <a:ext cx="5435600" cy="807720"/>
          </a:xfrm>
          <a:custGeom>
            <a:avLst/>
            <a:gdLst/>
            <a:ahLst/>
            <a:cxnLst/>
            <a:rect l="l" t="t" r="r" b="b"/>
            <a:pathLst>
              <a:path w="5435600" h="807720">
                <a:moveTo>
                  <a:pt x="76200" y="807720"/>
                </a:moveTo>
                <a:lnTo>
                  <a:pt x="76200" y="8077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731520"/>
                </a:lnTo>
                <a:arcTo hR="76200" wR="25400" stAng="10800000" swAng="-5400000"/>
                <a:close/>
              </a:path>
            </a:pathLst>
          </a:custGeom>
          <a:solidFill>
            <a:srgbClr val="E8833A"/>
          </a:solidFill>
          <a:ln/>
        </p:spPr>
      </p:sp>
      <p:sp>
        <p:nvSpPr>
          <p:cNvPr id="17" name="Text 14"/>
          <p:cNvSpPr/>
          <p:nvPr/>
        </p:nvSpPr>
        <p:spPr>
          <a:xfrm>
            <a:off x="6375400" y="4514850"/>
            <a:ext cx="518007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375400" y="4692650"/>
            <a:ext cx="51800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stock, staffing and promotions ahead of September to December, and look into why other months run lower.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457200"/>
            <a:ext cx="115824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5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STRONG SALES DO NOT ALWAYS MEAN STRONG PROFIT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600" y="1051561"/>
            <a:ext cx="4826000" cy="269494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12800" y="1229361"/>
            <a:ext cx="455218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profit margin by category</a:t>
            </a:r>
            <a:endParaRPr lang="en-US" sz="1600" dirty="0"/>
          </a:p>
        </p:txBody>
      </p:sp>
      <p:pic>
        <p:nvPicPr>
          <p:cNvPr id="5" name="Image 0" descr="Horizontal bars of revenue by category: Technology 836,154 naira at 17% margin, Furniture 742,000 at 2%, Office Supplies 719,047 at 17%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549400"/>
            <a:ext cx="4419600" cy="2019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38800" y="1051561"/>
            <a:ext cx="5943600" cy="797560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5816600" y="1203961"/>
            <a:ext cx="57556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816600" y="1447800"/>
            <a:ext cx="575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in revenue, yet the margin is only 2%.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38800" y="1976121"/>
            <a:ext cx="5943600" cy="797560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5816600" y="2128521"/>
            <a:ext cx="57556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16600" y="2372361"/>
            <a:ext cx="575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and a 17% margin.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38800" y="2900682"/>
            <a:ext cx="5943600" cy="797560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5816600" y="3053082"/>
            <a:ext cx="57556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816600" y="3296921"/>
            <a:ext cx="576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 imageCLASS 2200 Advanced Copier leads on both revenue and profit.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09600" y="3949700"/>
            <a:ext cx="5384800" cy="807720"/>
          </a:xfrm>
          <a:prstGeom prst="roundRect">
            <a:avLst>
              <a:gd name="adj" fmla="val 9434"/>
            </a:avLst>
          </a:prstGeom>
          <a:solidFill>
            <a:srgbClr val="0F1B5C"/>
          </a:solidFill>
          <a:ln/>
        </p:spPr>
      </p:sp>
      <p:sp>
        <p:nvSpPr>
          <p:cNvPr id="16" name="Text 13"/>
          <p:cNvSpPr/>
          <p:nvPr/>
        </p:nvSpPr>
        <p:spPr>
          <a:xfrm>
            <a:off x="787400" y="4051300"/>
            <a:ext cx="518007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87400" y="4229100"/>
            <a:ext cx="51800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brings in ₦742,000.00 in sales but only a 2% margin, so high sales are not turning into profit there.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46800" y="3949700"/>
            <a:ext cx="5435600" cy="807720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6146800" y="3949700"/>
            <a:ext cx="5435600" cy="807720"/>
          </a:xfrm>
          <a:custGeom>
            <a:avLst/>
            <a:gdLst/>
            <a:ahLst/>
            <a:cxnLst/>
            <a:rect l="l" t="t" r="r" b="b"/>
            <a:pathLst>
              <a:path w="5435600" h="807720">
                <a:moveTo>
                  <a:pt x="76200" y="807720"/>
                </a:moveTo>
                <a:lnTo>
                  <a:pt x="76200" y="8077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731520"/>
                </a:lnTo>
                <a:arcTo hR="76200" wR="25400" stAng="10800000" swAng="-5400000"/>
                <a:close/>
              </a:path>
            </a:pathLst>
          </a:custGeom>
          <a:solidFill>
            <a:srgbClr val="E8833A"/>
          </a:solidFill>
          <a:ln/>
        </p:spPr>
      </p:sp>
      <p:sp>
        <p:nvSpPr>
          <p:cNvPr id="20" name="Text 17"/>
          <p:cNvSpPr/>
          <p:nvPr/>
        </p:nvSpPr>
        <p:spPr>
          <a:xfrm>
            <a:off x="6375400" y="4051300"/>
            <a:ext cx="518007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75400" y="4229100"/>
            <a:ext cx="51800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Furniture costs, pricing and discounts before pushing more volume, and protect the 17% margins in Technology and Office Supplies.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457200"/>
            <a:ext cx="1130198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5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REGIONS AND CUSTOMER SEGMENTS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600" y="1051561"/>
            <a:ext cx="4826000" cy="269494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12800" y="1229361"/>
            <a:ext cx="455218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region</a:t>
            </a:r>
            <a:endParaRPr lang="en-US" sz="1600" dirty="0"/>
          </a:p>
        </p:txBody>
      </p:sp>
      <p:pic>
        <p:nvPicPr>
          <p:cNvPr id="5" name="Image 0" descr="Horizontal bars of revenue by region: West 725,458 naira, East 678,781, Central 501,240, South 391,722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549400"/>
            <a:ext cx="4419600" cy="2019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38800" y="1051561"/>
            <a:ext cx="5943600" cy="797560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5816600" y="1203961"/>
            <a:ext cx="57556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East lead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816600" y="1447800"/>
            <a:ext cx="575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rank first and second on both revenue and profit.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38800" y="1976121"/>
            <a:ext cx="5943600" cy="797560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5816600" y="2128521"/>
            <a:ext cx="57556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versus Central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16600" y="2372361"/>
            <a:ext cx="575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sells less than Central but ranks above it on profit.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38800" y="2900682"/>
            <a:ext cx="5943600" cy="797560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5816600" y="3053082"/>
            <a:ext cx="57556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816600" y="3296921"/>
            <a:ext cx="575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is the largest segment, then Corporate, then Home Office.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09600" y="3949700"/>
            <a:ext cx="5384800" cy="807720"/>
          </a:xfrm>
          <a:prstGeom prst="roundRect">
            <a:avLst>
              <a:gd name="adj" fmla="val 9434"/>
            </a:avLst>
          </a:prstGeom>
          <a:solidFill>
            <a:srgbClr val="0F1B5C"/>
          </a:solidFill>
          <a:ln/>
        </p:spPr>
      </p:sp>
      <p:sp>
        <p:nvSpPr>
          <p:cNvPr id="16" name="Text 13"/>
          <p:cNvSpPr/>
          <p:nvPr/>
        </p:nvSpPr>
        <p:spPr>
          <a:xfrm>
            <a:off x="787400" y="4051300"/>
            <a:ext cx="518007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87400" y="4229100"/>
            <a:ext cx="51800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East lead on revenue and profit. South earns less revenue than Central yet ranks above it on profit.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46800" y="3949700"/>
            <a:ext cx="5435600" cy="807720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6146800" y="3949700"/>
            <a:ext cx="5435600" cy="807720"/>
          </a:xfrm>
          <a:custGeom>
            <a:avLst/>
            <a:gdLst/>
            <a:ahLst/>
            <a:cxnLst/>
            <a:rect l="l" t="t" r="r" b="b"/>
            <a:pathLst>
              <a:path w="5435600" h="807720">
                <a:moveTo>
                  <a:pt x="76200" y="807720"/>
                </a:moveTo>
                <a:lnTo>
                  <a:pt x="76200" y="8077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731520"/>
                </a:lnTo>
                <a:arcTo hR="76200" wR="25400" stAng="10800000" swAng="-5400000"/>
                <a:close/>
              </a:path>
            </a:pathLst>
          </a:custGeom>
          <a:solidFill>
            <a:srgbClr val="E8833A"/>
          </a:solidFill>
          <a:ln/>
        </p:spPr>
      </p:sp>
      <p:sp>
        <p:nvSpPr>
          <p:cNvPr id="20" name="Text 17"/>
          <p:cNvSpPr/>
          <p:nvPr/>
        </p:nvSpPr>
        <p:spPr>
          <a:xfrm>
            <a:off x="6375400" y="4051300"/>
            <a:ext cx="518007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75400" y="4229100"/>
            <a:ext cx="51800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what works in West and East, and find out why Central turns sales into less profit.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457200"/>
            <a:ext cx="1130198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5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DISCOUNTING AND SHIPPING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51561"/>
            <a:ext cx="554634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1452882"/>
            <a:ext cx="5384800" cy="909320"/>
          </a:xfrm>
          <a:prstGeom prst="roundRect">
            <a:avLst>
              <a:gd name="adj" fmla="val 838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452882"/>
            <a:ext cx="5384800" cy="909320"/>
          </a:xfrm>
          <a:custGeom>
            <a:avLst/>
            <a:gdLst/>
            <a:ahLst/>
            <a:cxnLst/>
            <a:rect l="l" t="t" r="r" b="b"/>
            <a:pathLst>
              <a:path w="5384800" h="909320">
                <a:moveTo>
                  <a:pt x="76200" y="909320"/>
                </a:moveTo>
                <a:lnTo>
                  <a:pt x="76200" y="9093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833120"/>
                </a:lnTo>
                <a:arcTo hR="76200" wR="25400" stAng="10800000" swAng="-5400000"/>
                <a:close/>
              </a:path>
            </a:pathLst>
          </a:custGeom>
          <a:solidFill>
            <a:srgbClr val="0F1B5C"/>
          </a:solidFill>
          <a:ln/>
        </p:spPr>
      </p:sp>
      <p:sp>
        <p:nvSpPr>
          <p:cNvPr id="6" name="Text 4"/>
          <p:cNvSpPr/>
          <p:nvPr/>
        </p:nvSpPr>
        <p:spPr>
          <a:xfrm>
            <a:off x="838200" y="1605282"/>
            <a:ext cx="512775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38200" y="1996439"/>
            <a:ext cx="51277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discount across 5,009 orders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489200"/>
            <a:ext cx="5384800" cy="553720"/>
          </a:xfrm>
          <a:prstGeom prst="roundRect">
            <a:avLst>
              <a:gd name="adj" fmla="val 13761"/>
            </a:avLst>
          </a:prstGeom>
          <a:solidFill>
            <a:srgbClr val="FFFFFF"/>
          </a:solidFill>
          <a:ln/>
        </p:spPr>
        <p:txBody>
          <a:bodyPr wrap="square" lIns="155482" tIns="130082" rIns="4606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no discount bring the most revenue and profit.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3169921"/>
            <a:ext cx="5384800" cy="553720"/>
          </a:xfrm>
          <a:prstGeom prst="roundRect">
            <a:avLst>
              <a:gd name="adj" fmla="val 13761"/>
            </a:avLst>
          </a:prstGeom>
          <a:solidFill>
            <a:srgbClr val="FFFFFF"/>
          </a:solidFill>
          <a:ln/>
        </p:spPr>
        <p:txBody>
          <a:bodyPr wrap="square" lIns="155482" tIns="130082" rIns="4606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falls steadily as the discount rate rises.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3850639"/>
            <a:ext cx="5384800" cy="553720"/>
          </a:xfrm>
          <a:prstGeom prst="roundRect">
            <a:avLst>
              <a:gd name="adj" fmla="val 13761"/>
            </a:avLst>
          </a:prstGeom>
          <a:solidFill>
            <a:srgbClr val="FFFFFF"/>
          </a:solidFill>
          <a:ln/>
        </p:spPr>
        <p:txBody>
          <a:bodyPr wrap="square" lIns="155482" tIns="130082" rIns="4606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very high discount band records negative profit.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97600" y="1051561"/>
            <a:ext cx="554634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97600" y="1452882"/>
            <a:ext cx="5384800" cy="909320"/>
          </a:xfrm>
          <a:prstGeom prst="roundRect">
            <a:avLst>
              <a:gd name="adj" fmla="val 838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197600" y="1452882"/>
            <a:ext cx="5384800" cy="909320"/>
          </a:xfrm>
          <a:custGeom>
            <a:avLst/>
            <a:gdLst/>
            <a:ahLst/>
            <a:cxnLst/>
            <a:rect l="l" t="t" r="r" b="b"/>
            <a:pathLst>
              <a:path w="5384800" h="909320">
                <a:moveTo>
                  <a:pt x="76200" y="909320"/>
                </a:moveTo>
                <a:lnTo>
                  <a:pt x="76200" y="9093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833120"/>
                </a:lnTo>
                <a:arcTo hR="76200" wR="25400" stAng="10800000" swAng="-5400000"/>
                <a:close/>
              </a:path>
            </a:pathLst>
          </a:custGeom>
          <a:solidFill>
            <a:srgbClr val="0F1B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26200" y="1605282"/>
            <a:ext cx="512775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14%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26200" y="1996439"/>
            <a:ext cx="51277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 margin, the highest of the four modes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97600" y="2489200"/>
            <a:ext cx="5384800" cy="553720"/>
          </a:xfrm>
          <a:prstGeom prst="roundRect">
            <a:avLst>
              <a:gd name="adj" fmla="val 13761"/>
            </a:avLst>
          </a:prstGeom>
          <a:solidFill>
            <a:srgbClr val="FFFFFF"/>
          </a:solidFill>
          <a:ln/>
        </p:spPr>
        <p:txBody>
          <a:bodyPr wrap="square" lIns="155482" tIns="130082" rIns="4606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 carries most of the revenue.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97600" y="3169921"/>
            <a:ext cx="5384800" cy="553720"/>
          </a:xfrm>
          <a:prstGeom prst="roundRect">
            <a:avLst>
              <a:gd name="adj" fmla="val 13761"/>
            </a:avLst>
          </a:prstGeom>
          <a:solidFill>
            <a:srgbClr val="FFFFFF"/>
          </a:solidFill>
          <a:ln/>
        </p:spPr>
        <p:txBody>
          <a:bodyPr wrap="square" lIns="155482" tIns="130082" rIns="4606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 sit in a narrow band of roughly 12% to 14% across modes.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7600" y="3850639"/>
            <a:ext cx="5384800" cy="553720"/>
          </a:xfrm>
          <a:prstGeom prst="roundRect">
            <a:avLst>
              <a:gd name="adj" fmla="val 13761"/>
            </a:avLst>
          </a:prstGeom>
          <a:solidFill>
            <a:srgbClr val="FFFFFF"/>
          </a:solidFill>
          <a:ln/>
        </p:spPr>
        <p:txBody>
          <a:bodyPr wrap="square" lIns="155482" tIns="130082" rIns="4606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 is the smallest mode by revenue.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9600" y="4607564"/>
            <a:ext cx="5384800" cy="807720"/>
          </a:xfrm>
          <a:prstGeom prst="roundRect">
            <a:avLst>
              <a:gd name="adj" fmla="val 9434"/>
            </a:avLst>
          </a:prstGeom>
          <a:solidFill>
            <a:srgbClr val="0F1B5C"/>
          </a:solidFill>
          <a:ln/>
        </p:spPr>
      </p:sp>
      <p:sp>
        <p:nvSpPr>
          <p:cNvPr id="20" name="Text 18"/>
          <p:cNvSpPr/>
          <p:nvPr/>
        </p:nvSpPr>
        <p:spPr>
          <a:xfrm>
            <a:off x="787400" y="4709164"/>
            <a:ext cx="518007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7400" y="4886964"/>
            <a:ext cx="51800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falls as discounts rise, and the very high discount band records negative profit. The data shows the link, not the cause.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46800" y="4607564"/>
            <a:ext cx="5435600" cy="807720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146800" y="4607564"/>
            <a:ext cx="5435600" cy="807720"/>
          </a:xfrm>
          <a:custGeom>
            <a:avLst/>
            <a:gdLst/>
            <a:ahLst/>
            <a:cxnLst/>
            <a:rect l="l" t="t" r="r" b="b"/>
            <a:pathLst>
              <a:path w="5435600" h="807720">
                <a:moveTo>
                  <a:pt x="76200" y="807720"/>
                </a:moveTo>
                <a:lnTo>
                  <a:pt x="76200" y="8077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731520"/>
                </a:lnTo>
                <a:arcTo hR="76200" wR="25400" stAng="10800000" swAng="-5400000"/>
                <a:close/>
              </a:path>
            </a:pathLst>
          </a:custGeom>
          <a:solidFill>
            <a:srgbClr val="E8833A"/>
          </a:solidFill>
          <a:ln/>
        </p:spPr>
      </p:sp>
      <p:sp>
        <p:nvSpPr>
          <p:cNvPr id="24" name="Text 22"/>
          <p:cNvSpPr/>
          <p:nvPr/>
        </p:nvSpPr>
        <p:spPr>
          <a:xfrm>
            <a:off x="6375400" y="4709164"/>
            <a:ext cx="518007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75400" y="4886964"/>
            <a:ext cx="51800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ceiling on discounts and review very high discount orders. Ask why Standard Class earns less margin than First Class.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457200"/>
            <a:ext cx="1130198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5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SALES REPRESENTATIVE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600" y="1051564"/>
            <a:ext cx="4826000" cy="3075940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12800" y="1229364"/>
            <a:ext cx="455218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ranking, top 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4822" y="1549400"/>
            <a:ext cx="4562546" cy="242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1978" indent="-271978">
              <a:lnSpc>
                <a:spcPts val="1890"/>
              </a:lnSpc>
              <a:buSzPct val="100000"/>
              <a:buFontTx/>
              <a:buAutoNum type="arabicPeriod" startAt="1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</a:t>
            </a:r>
            <a:endParaRPr lang="en-US" sz="1400" dirty="0"/>
          </a:p>
          <a:p>
            <a:pPr algn="l" marL="271978" indent="-271978">
              <a:lnSpc>
                <a:spcPts val="189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Morris Garcia</a:t>
            </a:r>
            <a:endParaRPr lang="en-US" sz="1400" dirty="0"/>
          </a:p>
          <a:p>
            <a:pPr algn="l" marL="271978" indent="-271978">
              <a:lnSpc>
                <a:spcPts val="189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 Given</a:t>
            </a:r>
            <a:endParaRPr lang="en-US" sz="1400" dirty="0"/>
          </a:p>
          <a:p>
            <a:pPr algn="l" marL="271978" indent="-271978">
              <a:lnSpc>
                <a:spcPts val="189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Abigail Thompson</a:t>
            </a:r>
            <a:endParaRPr lang="en-US" sz="1400" dirty="0"/>
          </a:p>
          <a:p>
            <a:pPr algn="l" marL="271978" indent="-271978">
              <a:lnSpc>
                <a:spcPts val="189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Sheila Stones</a:t>
            </a:r>
            <a:endParaRPr lang="en-US" sz="1400" dirty="0"/>
          </a:p>
          <a:p>
            <a:pPr algn="l" marL="271978" indent="-271978">
              <a:lnSpc>
                <a:spcPts val="189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Pepple</a:t>
            </a:r>
            <a:endParaRPr lang="en-US" sz="1400" dirty="0"/>
          </a:p>
          <a:p>
            <a:pPr algn="l" marL="271978" indent="-271978">
              <a:lnSpc>
                <a:spcPts val="189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Wu</a:t>
            </a:r>
            <a:endParaRPr lang="en-US" sz="1400" dirty="0"/>
          </a:p>
          <a:p>
            <a:pPr algn="l" marL="271978" indent="-271978">
              <a:lnSpc>
                <a:spcPts val="189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Ray</a:t>
            </a:r>
            <a:endParaRPr lang="en-US" sz="1400" dirty="0"/>
          </a:p>
          <a:p>
            <a:pPr algn="l" marL="271978" indent="-271978">
              <a:lnSpc>
                <a:spcPts val="189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 Gerrard</a:t>
            </a:r>
            <a:endParaRPr lang="en-US" sz="1400" dirty="0"/>
          </a:p>
          <a:p>
            <a:pPr algn="l" marL="271978" indent="-271978">
              <a:lnSpc>
                <a:spcPts val="189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 Crawford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38800" y="1051564"/>
            <a:ext cx="5943600" cy="797560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816600" y="1203964"/>
            <a:ext cx="57556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16600" y="1447800"/>
            <a:ext cx="575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is far ahead of every named rep on revenue.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38800" y="1976121"/>
            <a:ext cx="5943600" cy="797560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816600" y="2128521"/>
            <a:ext cx="57556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16600" y="2372364"/>
            <a:ext cx="576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named reps, Morris Garcia ranks first and the gap to the rest is small.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38800" y="2900679"/>
            <a:ext cx="5943600" cy="1046480"/>
          </a:xfrm>
          <a:prstGeom prst="roundRect">
            <a:avLst>
              <a:gd name="adj" fmla="val 7282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638800" y="2900679"/>
            <a:ext cx="5943600" cy="1046480"/>
          </a:xfrm>
          <a:custGeom>
            <a:avLst/>
            <a:gdLst/>
            <a:ahLst/>
            <a:cxnLst/>
            <a:rect l="l" t="t" r="r" b="b"/>
            <a:pathLst>
              <a:path w="5943600" h="1046480">
                <a:moveTo>
                  <a:pt x="76200" y="1046480"/>
                </a:moveTo>
                <a:lnTo>
                  <a:pt x="76200" y="104648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970280"/>
                </a:lnTo>
                <a:arcTo hR="76200" wR="25400" stAng="10800000" swAng="-5400000"/>
                <a:close/>
              </a:path>
            </a:pathLst>
          </a:custGeom>
          <a:solidFill>
            <a:srgbClr val="E8833A"/>
          </a:solidFill>
          <a:ln/>
        </p:spPr>
      </p:sp>
      <p:sp>
        <p:nvSpPr>
          <p:cNvPr id="14" name="Text 12"/>
          <p:cNvSpPr/>
          <p:nvPr/>
        </p:nvSpPr>
        <p:spPr>
          <a:xfrm>
            <a:off x="5867400" y="3053079"/>
            <a:ext cx="570331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with care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67400" y="3296921"/>
            <a:ext cx="570331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is a group in the data, not a named person. Its meaning needs confirming before judging rep performance.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9600" y="4330700"/>
            <a:ext cx="5384800" cy="807720"/>
          </a:xfrm>
          <a:prstGeom prst="roundRect">
            <a:avLst>
              <a:gd name="adj" fmla="val 9434"/>
            </a:avLst>
          </a:prstGeom>
          <a:solidFill>
            <a:srgbClr val="0F1B5C"/>
          </a:solidFill>
          <a:ln/>
        </p:spPr>
      </p:sp>
      <p:sp>
        <p:nvSpPr>
          <p:cNvPr id="17" name="Text 15"/>
          <p:cNvSpPr/>
          <p:nvPr/>
        </p:nvSpPr>
        <p:spPr>
          <a:xfrm>
            <a:off x="787400" y="4432300"/>
            <a:ext cx="518007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7400" y="4610100"/>
            <a:ext cx="51800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revenue is far above any named rep, so rep performance cannot be judged from names alone.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46800" y="4330700"/>
            <a:ext cx="5435600" cy="807720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146800" y="4330700"/>
            <a:ext cx="5435600" cy="807720"/>
          </a:xfrm>
          <a:custGeom>
            <a:avLst/>
            <a:gdLst/>
            <a:ahLst/>
            <a:cxnLst/>
            <a:rect l="l" t="t" r="r" b="b"/>
            <a:pathLst>
              <a:path w="5435600" h="807720">
                <a:moveTo>
                  <a:pt x="76200" y="807720"/>
                </a:moveTo>
                <a:lnTo>
                  <a:pt x="76200" y="8077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731520"/>
                </a:lnTo>
                <a:arcTo hR="76200" wR="25400" stAng="10800000" swAng="-5400000"/>
                <a:close/>
              </a:path>
            </a:pathLst>
          </a:custGeom>
          <a:solidFill>
            <a:srgbClr val="E8833A"/>
          </a:solidFill>
          <a:ln/>
        </p:spPr>
      </p:sp>
      <p:sp>
        <p:nvSpPr>
          <p:cNvPr id="21" name="Text 19"/>
          <p:cNvSpPr/>
          <p:nvPr/>
        </p:nvSpPr>
        <p:spPr>
          <a:xfrm>
            <a:off x="6375400" y="4432300"/>
            <a:ext cx="518007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75400" y="4610100"/>
            <a:ext cx="51800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what Organic means in the data, then rank reps on profit as well as revenue.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457200"/>
            <a:ext cx="1130198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1B5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600" y="1051564"/>
            <a:ext cx="5410200" cy="1010920"/>
          </a:xfrm>
          <a:prstGeom prst="roundRect">
            <a:avLst>
              <a:gd name="adj" fmla="val 7538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" y="1051564"/>
            <a:ext cx="5410200" cy="1010920"/>
          </a:xfrm>
          <a:custGeom>
            <a:avLst/>
            <a:gdLst/>
            <a:ahLst/>
            <a:cxnLst/>
            <a:rect l="l" t="t" r="r" b="b"/>
            <a:pathLst>
              <a:path w="5410200" h="1010920">
                <a:moveTo>
                  <a:pt x="76200" y="1010920"/>
                </a:moveTo>
                <a:lnTo>
                  <a:pt x="76200" y="10109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934720"/>
                </a:lnTo>
                <a:arcTo hR="76200" wR="25400" stAng="10800000" swAng="-5400000"/>
                <a:close/>
              </a:path>
            </a:pathLst>
          </a:custGeom>
          <a:solidFill>
            <a:srgbClr val="E8833A"/>
          </a:solidFill>
          <a:ln/>
        </p:spPr>
      </p:sp>
      <p:sp>
        <p:nvSpPr>
          <p:cNvPr id="5" name="Text 3"/>
          <p:cNvSpPr/>
          <p:nvPr/>
        </p:nvSpPr>
        <p:spPr>
          <a:xfrm>
            <a:off x="838200" y="1203964"/>
            <a:ext cx="515391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Review deep discounts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8200" y="1447800"/>
            <a:ext cx="515391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margin falls as discounts rise, and the very high band records negative profit.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051564"/>
            <a:ext cx="5410200" cy="1010920"/>
          </a:xfrm>
          <a:prstGeom prst="roundRect">
            <a:avLst>
              <a:gd name="adj" fmla="val 7538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172200" y="1051564"/>
            <a:ext cx="5410200" cy="1010920"/>
          </a:xfrm>
          <a:custGeom>
            <a:avLst/>
            <a:gdLst/>
            <a:ahLst/>
            <a:cxnLst/>
            <a:rect l="l" t="t" r="r" b="b"/>
            <a:pathLst>
              <a:path w="5410200" h="1010920">
                <a:moveTo>
                  <a:pt x="76200" y="1010920"/>
                </a:moveTo>
                <a:lnTo>
                  <a:pt x="76200" y="10109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934720"/>
                </a:lnTo>
                <a:arcTo hR="76200" wR="25400" stAng="10800000" swAng="-5400000"/>
                <a:close/>
              </a:path>
            </a:pathLst>
          </a:custGeom>
          <a:solidFill>
            <a:srgbClr val="E883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203964"/>
            <a:ext cx="515391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Re-examine Furniture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447800"/>
            <a:ext cx="515391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2% margin against 17% for Technology and Office Supplies.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9600" y="2214879"/>
            <a:ext cx="5410200" cy="1010920"/>
          </a:xfrm>
          <a:prstGeom prst="roundRect">
            <a:avLst>
              <a:gd name="adj" fmla="val 7538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" y="2214879"/>
            <a:ext cx="5410200" cy="1010920"/>
          </a:xfrm>
          <a:custGeom>
            <a:avLst/>
            <a:gdLst/>
            <a:ahLst/>
            <a:cxnLst/>
            <a:rect l="l" t="t" r="r" b="b"/>
            <a:pathLst>
              <a:path w="5410200" h="1010920">
                <a:moveTo>
                  <a:pt x="76200" y="1010920"/>
                </a:moveTo>
                <a:lnTo>
                  <a:pt x="76200" y="10109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934720"/>
                </a:lnTo>
                <a:arcTo hR="76200" wR="25400" stAng="10800000" swAng="-5400000"/>
                <a:close/>
              </a:path>
            </a:pathLst>
          </a:custGeom>
          <a:solidFill>
            <a:srgbClr val="1F3FBF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" y="2367279"/>
            <a:ext cx="515391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on West and East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" y="2611121"/>
            <a:ext cx="515391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they lead on revenue and profit. Look into why South and Central lag.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2214879"/>
            <a:ext cx="5410200" cy="1010920"/>
          </a:xfrm>
          <a:prstGeom prst="roundRect">
            <a:avLst>
              <a:gd name="adj" fmla="val 7538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172200" y="2214879"/>
            <a:ext cx="5410200" cy="1010920"/>
          </a:xfrm>
          <a:custGeom>
            <a:avLst/>
            <a:gdLst/>
            <a:ahLst/>
            <a:cxnLst/>
            <a:rect l="l" t="t" r="r" b="b"/>
            <a:pathLst>
              <a:path w="5410200" h="1010920">
                <a:moveTo>
                  <a:pt x="76200" y="1010920"/>
                </a:moveTo>
                <a:lnTo>
                  <a:pt x="76200" y="10109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934720"/>
                </a:lnTo>
                <a:arcTo hR="76200" wR="25400" stAng="10800000" swAng="-5400000"/>
                <a:close/>
              </a:path>
            </a:pathLst>
          </a:custGeom>
          <a:solidFill>
            <a:srgbClr val="1F3FB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367279"/>
            <a:ext cx="515391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Plan for September to December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2611121"/>
            <a:ext cx="515391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all 10 top revenue months fall in this window.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9600" y="3429000"/>
            <a:ext cx="10972800" cy="779780"/>
          </a:xfrm>
          <a:prstGeom prst="roundRect">
            <a:avLst>
              <a:gd name="adj" fmla="val 9772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600" y="3429000"/>
            <a:ext cx="10972800" cy="779780"/>
          </a:xfrm>
          <a:custGeom>
            <a:avLst/>
            <a:gdLst/>
            <a:ahLst/>
            <a:cxnLst/>
            <a:rect l="l" t="t" r="r" b="b"/>
            <a:pathLst>
              <a:path w="10972800" h="779780">
                <a:moveTo>
                  <a:pt x="76200" y="779780"/>
                </a:moveTo>
                <a:lnTo>
                  <a:pt x="76200" y="77978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703580"/>
                </a:lnTo>
                <a:arcTo hR="76200" wR="25400" stAng="10800000" swAng="-5400000"/>
                <a:close/>
              </a:path>
            </a:pathLst>
          </a:custGeom>
          <a:solidFill>
            <a:srgbClr val="E8833A"/>
          </a:solidFill>
          <a:ln/>
        </p:spPr>
      </p:sp>
      <p:sp>
        <p:nvSpPr>
          <p:cNvPr id="21" name="Text 19"/>
          <p:cNvSpPr/>
          <p:nvPr/>
        </p:nvSpPr>
        <p:spPr>
          <a:xfrm>
            <a:off x="838200" y="3581400"/>
            <a:ext cx="1088339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Start with discount limits and Furniture pricing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200" y="3825242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they address the clearest margin gaps.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luxe Store: Executive Presentation and Defence">
  <a:themeElements>
    <a:clrScheme name="Deluxe Store: Executive Presentation and Defence">
      <a:dk1>
        <a:srgbClr val="0F1B5C"/>
      </a:dk1>
      <a:lt1>
        <a:srgbClr val="F4F5FA"/>
      </a:lt1>
      <a:dk2>
        <a:srgbClr val="485284"/>
      </a:dk2>
      <a:lt2>
        <a:srgbClr val="DDDFEA"/>
      </a:lt2>
      <a:accent1>
        <a:srgbClr val="E8833A"/>
      </a:accent1>
      <a:accent2>
        <a:srgbClr val="9AA0A6"/>
      </a:accent2>
      <a:accent3>
        <a:srgbClr val="6B729B"/>
      </a:accent3>
      <a:accent4>
        <a:srgbClr val="8D93B3"/>
      </a:accent4>
      <a:accent5>
        <a:srgbClr val="AFB4CB"/>
      </a:accent5>
      <a:accent6>
        <a:srgbClr val="C6C9DA"/>
      </a:accent6>
      <a:hlink>
        <a:srgbClr val="0563C1"/>
      </a:hlink>
      <a:folHlink>
        <a:srgbClr val="954F72"/>
      </a:folHlink>
    </a:clrScheme>
    <a:fontScheme name="Deluxe Store: Executive Presentation and Defen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Deluxe Store: Executive Presentation and Defence</dc:title>
  <dc:subject/>
  <dc:creator/>
  <cp:lastModifiedBy/>
  <cp:revision>1</cp:revision>
  <dcterms:created xsi:type="dcterms:W3CDTF">2026-10-25T13:12:52Z</dcterms:created>
  <dcterms:modified xsi:type="dcterms:W3CDTF">2026-10-25T13:12:52Z</dcterms:modified>
</cp:coreProperties>
</file>